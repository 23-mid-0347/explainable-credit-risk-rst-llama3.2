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23"/>
  </p:notesMasterIdLst>
  <p:handoutMasterIdLst>
    <p:handoutMasterId r:id="rId24"/>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08E2453-F8CE-4124-8935-C023096399C8}">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2/22/2026</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2/22/2026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2/22/2026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2/22/2026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1902303" y="1545058"/>
            <a:ext cx="8791575" cy="2387600"/>
          </a:xfrm>
        </p:spPr>
        <p:txBody>
          <a:bodyPr>
            <a:normAutofit fontScale="90000"/>
          </a:bodyPr>
          <a:lstStyle/>
          <a:p>
            <a:pPr algn="ctr"/>
            <a:r>
              <a:rPr lang="en-US" sz="5400" dirty="0"/>
              <a:t>Explainable Credit Risk Assessment using Hybrid (Rough Set Theory) and LLm</a:t>
            </a:r>
            <a:endParaRPr lang="en-US" sz="5400" dirty="0">
              <a:latin typeface="Rockwell" panose="02060603020205020403" pitchFamily="18" charset="0"/>
            </a:endParaRP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a:xfrm>
            <a:off x="8970033" y="4575384"/>
            <a:ext cx="2774829" cy="1160253"/>
          </a:xfrm>
        </p:spPr>
        <p:txBody>
          <a:bodyPr>
            <a:normAutofit fontScale="92500"/>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Shyam prasad S (23mid0347)</a:t>
            </a:r>
          </a:p>
          <a:p>
            <a:pPr algn="ctr"/>
            <a:r>
              <a:rPr lang="en-US" sz="1400" dirty="0">
                <a:latin typeface="Tahoma" panose="020B0604030504040204" pitchFamily="34" charset="0"/>
                <a:ea typeface="Tahoma" panose="020B0604030504040204" pitchFamily="34" charset="0"/>
                <a:cs typeface="Tahoma" panose="020B0604030504040204" pitchFamily="34" charset="0"/>
              </a:rPr>
              <a:t>Pooja s (23mid0224)</a:t>
            </a:r>
          </a:p>
          <a:p>
            <a:pPr algn="ctr"/>
            <a:r>
              <a:rPr lang="en-US" sz="1400" dirty="0">
                <a:latin typeface="Tahoma" panose="020B0604030504040204" pitchFamily="34" charset="0"/>
                <a:ea typeface="Tahoma" panose="020B0604030504040204" pitchFamily="34" charset="0"/>
                <a:cs typeface="Tahoma" panose="020B0604030504040204" pitchFamily="34" charset="0"/>
              </a:rPr>
              <a:t>Arul </a:t>
            </a:r>
            <a:r>
              <a:rPr lang="en-US" sz="1400" dirty="0" err="1">
                <a:latin typeface="Tahoma" panose="020B0604030504040204" pitchFamily="34" charset="0"/>
                <a:ea typeface="Tahoma" panose="020B0604030504040204" pitchFamily="34" charset="0"/>
                <a:cs typeface="Tahoma" panose="020B0604030504040204" pitchFamily="34" charset="0"/>
              </a:rPr>
              <a:t>amuthan</a:t>
            </a:r>
            <a:r>
              <a:rPr lang="en-US" sz="1400">
                <a:latin typeface="Tahoma" panose="020B0604030504040204" pitchFamily="34" charset="0"/>
                <a:ea typeface="Tahoma" panose="020B0604030504040204" pitchFamily="34" charset="0"/>
                <a:cs typeface="Tahoma" panose="020B0604030504040204" pitchFamily="34" charset="0"/>
              </a:rPr>
              <a:t> rt </a:t>
            </a:r>
            <a:r>
              <a:rPr lang="en-US" sz="1400" dirty="0">
                <a:latin typeface="Tahoma" panose="020B0604030504040204" pitchFamily="34" charset="0"/>
                <a:ea typeface="Tahoma" panose="020B0604030504040204" pitchFamily="34" charset="0"/>
                <a:cs typeface="Tahoma" panose="020B0604030504040204" pitchFamily="34" charset="0"/>
              </a:rPr>
              <a:t>(23MID0284)</a:t>
            </a: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9D6-AB4A-622A-C57F-320BC8AC0F57}"/>
              </a:ext>
            </a:extLst>
          </p:cNvPr>
          <p:cNvSpPr>
            <a:spLocks noGrp="1"/>
          </p:cNvSpPr>
          <p:nvPr>
            <p:ph type="title"/>
          </p:nvPr>
        </p:nvSpPr>
        <p:spPr>
          <a:xfrm>
            <a:off x="1296688" y="238956"/>
            <a:ext cx="9905998" cy="1478570"/>
          </a:xfrm>
        </p:spPr>
        <p:txBody>
          <a:bodyPr/>
          <a:lstStyle/>
          <a:p>
            <a:r>
              <a:rPr lang="en-IN" dirty="0"/>
              <a:t>Introduction</a:t>
            </a:r>
          </a:p>
        </p:txBody>
      </p:sp>
      <p:sp>
        <p:nvSpPr>
          <p:cNvPr id="3" name="Content Placeholder 2">
            <a:extLst>
              <a:ext uri="{FF2B5EF4-FFF2-40B4-BE49-F238E27FC236}">
                <a16:creationId xmlns:a16="http://schemas.microsoft.com/office/drawing/2014/main" id="{69231B3D-F611-CB04-22D5-F3641EB0609E}"/>
              </a:ext>
            </a:extLst>
          </p:cNvPr>
          <p:cNvSpPr>
            <a:spLocks noGrp="1"/>
          </p:cNvSpPr>
          <p:nvPr>
            <p:ph idx="1"/>
          </p:nvPr>
        </p:nvSpPr>
        <p:spPr/>
        <p:txBody>
          <a:bodyPr>
            <a:normAutofit fontScale="85000" lnSpcReduction="10000"/>
          </a:bodyPr>
          <a:lstStyle/>
          <a:p>
            <a:r>
              <a:rPr lang="en-US" b="1" dirty="0"/>
              <a:t>1.1 Background</a:t>
            </a:r>
          </a:p>
          <a:p>
            <a:r>
              <a:rPr lang="en-US" dirty="0"/>
              <a:t>Credit risk assessment is a critical task in financial institutions. Banks must evaluate whether a loan applicant is likely to repay the loan. Incorrect decisions can lead to:</a:t>
            </a:r>
          </a:p>
          <a:p>
            <a:r>
              <a:rPr lang="en-US" dirty="0"/>
              <a:t>Financial loss (approving risky applicants)</a:t>
            </a:r>
          </a:p>
          <a:p>
            <a:r>
              <a:rPr lang="en-US" dirty="0"/>
              <a:t>Customer dissatisfaction (rejecting safe applicants)</a:t>
            </a:r>
          </a:p>
          <a:p>
            <a:r>
              <a:rPr lang="en-US" dirty="0"/>
              <a:t>Traditional machine learning models such as Support Vector Machines and Random Forests provide high prediction accuracy but often lack interpretability. In financial applications, explainability is essential due to regulatory requirements and ethical considerations.</a:t>
            </a:r>
          </a:p>
          <a:p>
            <a:endParaRPr lang="en-IN" dirty="0"/>
          </a:p>
        </p:txBody>
      </p:sp>
    </p:spTree>
    <p:extLst>
      <p:ext uri="{BB962C8B-B14F-4D97-AF65-F5344CB8AC3E}">
        <p14:creationId xmlns:p14="http://schemas.microsoft.com/office/powerpoint/2010/main" val="111706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26D6B-53C3-BDDA-8DE9-32A816045332}"/>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51E28C05-8881-59F6-E09D-D42501E7D724}"/>
              </a:ext>
            </a:extLst>
          </p:cNvPr>
          <p:cNvSpPr>
            <a:spLocks noGrp="1"/>
          </p:cNvSpPr>
          <p:nvPr>
            <p:ph idx="1"/>
          </p:nvPr>
        </p:nvSpPr>
        <p:spPr/>
        <p:txBody>
          <a:bodyPr/>
          <a:lstStyle/>
          <a:p>
            <a:r>
              <a:rPr lang="en-US" dirty="0"/>
              <a:t>To develop an </a:t>
            </a:r>
            <a:r>
              <a:rPr lang="en-US" b="1" dirty="0"/>
              <a:t>Explainable Credit Risk Assessment System</a:t>
            </a:r>
            <a:r>
              <a:rPr lang="en-US" dirty="0"/>
              <a:t> that:</a:t>
            </a:r>
          </a:p>
          <a:p>
            <a:r>
              <a:rPr lang="en-US" dirty="0"/>
              <a:t>Predicts whether a loan applicant is:</a:t>
            </a:r>
          </a:p>
          <a:p>
            <a:pPr lvl="1"/>
            <a:r>
              <a:rPr lang="en-US" dirty="0"/>
              <a:t>Low Risk</a:t>
            </a:r>
          </a:p>
          <a:p>
            <a:pPr lvl="1"/>
            <a:r>
              <a:rPr lang="en-US" dirty="0"/>
              <a:t>High Risk</a:t>
            </a:r>
          </a:p>
          <a:p>
            <a:r>
              <a:rPr lang="en-US" dirty="0"/>
              <a:t>Generates:</a:t>
            </a:r>
          </a:p>
          <a:p>
            <a:pPr lvl="1"/>
            <a:r>
              <a:rPr lang="en-US" dirty="0"/>
              <a:t>Rule-based explanation using Rough Set Theory</a:t>
            </a:r>
          </a:p>
          <a:p>
            <a:pPr lvl="1"/>
            <a:r>
              <a:rPr lang="en-US" dirty="0"/>
              <a:t>Natural language explanation using Tiny Llama</a:t>
            </a:r>
          </a:p>
          <a:p>
            <a:endParaRPr lang="en-IN" dirty="0"/>
          </a:p>
        </p:txBody>
      </p:sp>
    </p:spTree>
    <p:extLst>
      <p:ext uri="{BB962C8B-B14F-4D97-AF65-F5344CB8AC3E}">
        <p14:creationId xmlns:p14="http://schemas.microsoft.com/office/powerpoint/2010/main" val="4225176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5055-767D-5113-5AAC-20C07B42FC69}"/>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FD62BB68-B352-DFCB-4F49-F23B34144213}"/>
              </a:ext>
            </a:extLst>
          </p:cNvPr>
          <p:cNvSpPr>
            <a:spLocks noGrp="1"/>
          </p:cNvSpPr>
          <p:nvPr>
            <p:ph idx="1"/>
          </p:nvPr>
        </p:nvSpPr>
        <p:spPr/>
        <p:txBody>
          <a:bodyPr/>
          <a:lstStyle/>
          <a:p>
            <a:r>
              <a:rPr lang="en-US" dirty="0"/>
              <a:t>The objectives of this project are:</a:t>
            </a:r>
          </a:p>
          <a:p>
            <a:r>
              <a:rPr lang="en-US" dirty="0"/>
              <a:t>To preprocess and prepare the German Credit dataset.</a:t>
            </a:r>
          </a:p>
          <a:p>
            <a:r>
              <a:rPr lang="en-US" dirty="0"/>
              <a:t>To apply Rough Set Theory for rule extraction and feature reduction.</a:t>
            </a:r>
          </a:p>
          <a:p>
            <a:r>
              <a:rPr lang="en-US" dirty="0"/>
              <a:t>To compare ML performance before and after RST.</a:t>
            </a:r>
          </a:p>
          <a:p>
            <a:r>
              <a:rPr lang="en-US" dirty="0"/>
              <a:t>To integrate Tiny Llama for natural language explanation generation.</a:t>
            </a:r>
          </a:p>
          <a:p>
            <a:r>
              <a:rPr lang="en-US" dirty="0"/>
              <a:t>To design a hybrid Explainable AI system for financial decision-making.</a:t>
            </a:r>
          </a:p>
          <a:p>
            <a:endParaRPr lang="en-IN" dirty="0"/>
          </a:p>
        </p:txBody>
      </p:sp>
    </p:spTree>
    <p:extLst>
      <p:ext uri="{BB962C8B-B14F-4D97-AF65-F5344CB8AC3E}">
        <p14:creationId xmlns:p14="http://schemas.microsoft.com/office/powerpoint/2010/main" val="3422084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26AED-E193-55BF-B066-FB4C5BF5C270}"/>
              </a:ext>
            </a:extLst>
          </p:cNvPr>
          <p:cNvSpPr>
            <a:spLocks noGrp="1"/>
          </p:cNvSpPr>
          <p:nvPr>
            <p:ph type="title"/>
          </p:nvPr>
        </p:nvSpPr>
        <p:spPr>
          <a:xfrm>
            <a:off x="1143001" y="273462"/>
            <a:ext cx="9905998" cy="1478570"/>
          </a:xfrm>
        </p:spPr>
        <p:txBody>
          <a:bodyPr/>
          <a:lstStyle/>
          <a:p>
            <a:r>
              <a:rPr lang="en-IN" dirty="0"/>
              <a:t>Literature Overview</a:t>
            </a:r>
          </a:p>
        </p:txBody>
      </p:sp>
      <p:graphicFrame>
        <p:nvGraphicFramePr>
          <p:cNvPr id="3" name="Table 2">
            <a:extLst>
              <a:ext uri="{FF2B5EF4-FFF2-40B4-BE49-F238E27FC236}">
                <a16:creationId xmlns:a16="http://schemas.microsoft.com/office/drawing/2014/main" id="{A8AF1D39-E1B7-0F23-ABEB-E5C2C6A534B4}"/>
              </a:ext>
            </a:extLst>
          </p:cNvPr>
          <p:cNvGraphicFramePr>
            <a:graphicFrameLocks noGrp="1"/>
          </p:cNvGraphicFramePr>
          <p:nvPr>
            <p:extLst>
              <p:ext uri="{D42A27DB-BD31-4B8C-83A1-F6EECF244321}">
                <p14:modId xmlns:p14="http://schemas.microsoft.com/office/powerpoint/2010/main" val="1580958893"/>
              </p:ext>
            </p:extLst>
          </p:nvPr>
        </p:nvGraphicFramePr>
        <p:xfrm>
          <a:off x="1076265" y="1518250"/>
          <a:ext cx="9625401" cy="4942376"/>
        </p:xfrm>
        <a:graphic>
          <a:graphicData uri="http://schemas.openxmlformats.org/drawingml/2006/table">
            <a:tbl>
              <a:tblPr firstRow="1" bandRow="1">
                <a:tableStyleId>{5C22544A-7EE6-4342-B048-85BDC9FD1C3A}</a:tableStyleId>
              </a:tblPr>
              <a:tblGrid>
                <a:gridCol w="3228755">
                  <a:extLst>
                    <a:ext uri="{9D8B030D-6E8A-4147-A177-3AD203B41FA5}">
                      <a16:colId xmlns:a16="http://schemas.microsoft.com/office/drawing/2014/main" val="529171885"/>
                    </a:ext>
                  </a:extLst>
                </a:gridCol>
                <a:gridCol w="3198323">
                  <a:extLst>
                    <a:ext uri="{9D8B030D-6E8A-4147-A177-3AD203B41FA5}">
                      <a16:colId xmlns:a16="http://schemas.microsoft.com/office/drawing/2014/main" val="3508060888"/>
                    </a:ext>
                  </a:extLst>
                </a:gridCol>
                <a:gridCol w="3198323">
                  <a:extLst>
                    <a:ext uri="{9D8B030D-6E8A-4147-A177-3AD203B41FA5}">
                      <a16:colId xmlns:a16="http://schemas.microsoft.com/office/drawing/2014/main" val="4169773077"/>
                    </a:ext>
                  </a:extLst>
                </a:gridCol>
              </a:tblGrid>
              <a:tr h="731268">
                <a:tc>
                  <a:txBody>
                    <a:bodyPr/>
                    <a:lstStyle/>
                    <a:p>
                      <a:r>
                        <a:rPr lang="en-US" dirty="0"/>
                        <a:t>Name</a:t>
                      </a:r>
                      <a:endParaRPr lang="en-IN" dirty="0"/>
                    </a:p>
                  </a:txBody>
                  <a:tcPr/>
                </a:tc>
                <a:tc>
                  <a:txBody>
                    <a:bodyPr/>
                    <a:lstStyle/>
                    <a:p>
                      <a:r>
                        <a:rPr lang="en-IN" dirty="0"/>
                        <a:t>Common approaches:</a:t>
                      </a:r>
                    </a:p>
                  </a:txBody>
                  <a:tcPr/>
                </a:tc>
                <a:tc>
                  <a:txBody>
                    <a:bodyPr/>
                    <a:lstStyle/>
                    <a:p>
                      <a:r>
                        <a:rPr lang="en-IN" dirty="0"/>
                        <a:t>Limitation :</a:t>
                      </a:r>
                    </a:p>
                  </a:txBody>
                  <a:tcPr/>
                </a:tc>
                <a:extLst>
                  <a:ext uri="{0D108BD9-81ED-4DB2-BD59-A6C34878D82A}">
                    <a16:rowId xmlns:a16="http://schemas.microsoft.com/office/drawing/2014/main" val="763017983"/>
                  </a:ext>
                </a:extLst>
              </a:tr>
              <a:tr h="1010708">
                <a:tc>
                  <a:txBody>
                    <a:bodyPr/>
                    <a:lstStyle/>
                    <a:p>
                      <a:r>
                        <a:rPr lang="en-IN" dirty="0"/>
                        <a:t>Credit Risk Prediction</a:t>
                      </a:r>
                    </a:p>
                  </a:txBody>
                  <a:tcPr/>
                </a:tc>
                <a:tc>
                  <a:txBody>
                    <a:bodyPr/>
                    <a:lstStyle/>
                    <a:p>
                      <a:r>
                        <a:rPr lang="en-US" dirty="0"/>
                        <a:t>Logistic Regression</a:t>
                      </a:r>
                    </a:p>
                    <a:p>
                      <a:r>
                        <a:rPr lang="en-US" dirty="0"/>
                        <a:t>Decision Trees, SVM</a:t>
                      </a:r>
                    </a:p>
                    <a:p>
                      <a:r>
                        <a:rPr lang="en-US" dirty="0"/>
                        <a:t>Random Forest, Neural Networks</a:t>
                      </a:r>
                    </a:p>
                  </a:txBody>
                  <a:tcPr/>
                </a:tc>
                <a:tc>
                  <a:txBody>
                    <a:bodyPr/>
                    <a:lstStyle/>
                    <a:p>
                      <a:r>
                        <a:rPr lang="en-IN" dirty="0"/>
                        <a:t>Black-box nature reduces transparency.</a:t>
                      </a:r>
                    </a:p>
                  </a:txBody>
                  <a:tcPr/>
                </a:tc>
                <a:extLst>
                  <a:ext uri="{0D108BD9-81ED-4DB2-BD59-A6C34878D82A}">
                    <a16:rowId xmlns:a16="http://schemas.microsoft.com/office/drawing/2014/main" val="1174021242"/>
                  </a:ext>
                </a:extLst>
              </a:tr>
              <a:tr h="1700923">
                <a:tc>
                  <a:txBody>
                    <a:bodyPr/>
                    <a:lstStyle/>
                    <a:p>
                      <a:r>
                        <a:rPr lang="en-US" dirty="0"/>
                        <a:t>Rough Set Theory in Finance</a:t>
                      </a:r>
                      <a:endParaRPr lang="en-IN" dirty="0"/>
                    </a:p>
                  </a:txBody>
                  <a:tcPr/>
                </a:tc>
                <a:tc>
                  <a:txBody>
                    <a:bodyPr/>
                    <a:lstStyle/>
                    <a:p>
                      <a:r>
                        <a:rPr lang="en-US" dirty="0"/>
                        <a:t>Rough Set Theory (Pawlak, 1982) is used for:</a:t>
                      </a:r>
                    </a:p>
                    <a:p>
                      <a:r>
                        <a:rPr lang="en-US" dirty="0"/>
                        <a:t>Rule extraction</a:t>
                      </a:r>
                    </a:p>
                    <a:p>
                      <a:r>
                        <a:rPr lang="en-US" dirty="0"/>
                        <a:t>Feature selection</a:t>
                      </a:r>
                    </a:p>
                    <a:p>
                      <a:r>
                        <a:rPr lang="en-US" dirty="0"/>
                        <a:t>Handling uncertainty</a:t>
                      </a:r>
                    </a:p>
                    <a:p>
                      <a:r>
                        <a:rPr lang="en-US" dirty="0"/>
                        <a:t>Knowledge discovery</a:t>
                      </a:r>
                    </a:p>
                  </a:txBody>
                  <a:tcPr/>
                </a:tc>
                <a:tc>
                  <a:txBody>
                    <a:bodyPr/>
                    <a:lstStyle/>
                    <a:p>
                      <a:r>
                        <a:rPr lang="en-US" dirty="0"/>
                        <a:t>Advantages:</a:t>
                      </a:r>
                    </a:p>
                    <a:p>
                      <a:r>
                        <a:rPr lang="en-US" dirty="0"/>
                        <a:t>No probabilistic assumptions</a:t>
                      </a:r>
                    </a:p>
                    <a:p>
                      <a:r>
                        <a:rPr lang="en-US" dirty="0"/>
                        <a:t>Works directly on decision tables</a:t>
                      </a:r>
                    </a:p>
                    <a:p>
                      <a:r>
                        <a:rPr lang="en-US" dirty="0"/>
                        <a:t>Produces interpretable IF–THEN rules</a:t>
                      </a:r>
                    </a:p>
                  </a:txBody>
                  <a:tcPr/>
                </a:tc>
                <a:extLst>
                  <a:ext uri="{0D108BD9-81ED-4DB2-BD59-A6C34878D82A}">
                    <a16:rowId xmlns:a16="http://schemas.microsoft.com/office/drawing/2014/main" val="2899918003"/>
                  </a:ext>
                </a:extLst>
              </a:tr>
              <a:tr h="1010708">
                <a:tc>
                  <a:txBody>
                    <a:bodyPr/>
                    <a:lstStyle/>
                    <a:p>
                      <a:r>
                        <a:rPr lang="en-IN" dirty="0"/>
                        <a:t>Explainable AI and LLMs</a:t>
                      </a:r>
                    </a:p>
                  </a:txBody>
                  <a:tcPr/>
                </a:tc>
                <a:tc>
                  <a:txBody>
                    <a:bodyPr/>
                    <a:lstStyle/>
                    <a:p>
                      <a:r>
                        <a:rPr lang="en-US" dirty="0"/>
                        <a:t>Recent developments integrate:</a:t>
                      </a:r>
                    </a:p>
                    <a:p>
                      <a:r>
                        <a:rPr lang="en-US" dirty="0"/>
                        <a:t>Rule-based systems</a:t>
                      </a:r>
                    </a:p>
                    <a:p>
                      <a:r>
                        <a:rPr lang="en-US" dirty="0"/>
                        <a:t>Feature attribution methods</a:t>
                      </a:r>
                    </a:p>
                    <a:p>
                      <a:r>
                        <a:rPr lang="en-US" dirty="0"/>
                        <a:t>Large Language Models (LLMs)</a:t>
                      </a:r>
                    </a:p>
                    <a:p>
                      <a:endParaRPr lang="en-IN" dirty="0"/>
                    </a:p>
                  </a:txBody>
                  <a:tcPr/>
                </a:tc>
                <a:tc>
                  <a:txBody>
                    <a:bodyPr/>
                    <a:lstStyle/>
                    <a:p>
                      <a:r>
                        <a:rPr lang="en-IN" dirty="0"/>
                        <a:t>Tiny Llama enables:</a:t>
                      </a:r>
                    </a:p>
                    <a:p>
                      <a:r>
                        <a:rPr lang="en-IN" dirty="0"/>
                        <a:t>Lightweight deployment</a:t>
                      </a:r>
                    </a:p>
                    <a:p>
                      <a:r>
                        <a:rPr lang="en-IN" dirty="0"/>
                        <a:t>Natural language explanation generation</a:t>
                      </a:r>
                    </a:p>
                    <a:p>
                      <a:r>
                        <a:rPr lang="en-IN" dirty="0"/>
                        <a:t>Offline local usage (via Ollama)</a:t>
                      </a:r>
                    </a:p>
                  </a:txBody>
                  <a:tcPr/>
                </a:tc>
                <a:extLst>
                  <a:ext uri="{0D108BD9-81ED-4DB2-BD59-A6C34878D82A}">
                    <a16:rowId xmlns:a16="http://schemas.microsoft.com/office/drawing/2014/main" val="1663256867"/>
                  </a:ext>
                </a:extLst>
              </a:tr>
            </a:tbl>
          </a:graphicData>
        </a:graphic>
      </p:graphicFrame>
    </p:spTree>
    <p:extLst>
      <p:ext uri="{BB962C8B-B14F-4D97-AF65-F5344CB8AC3E}">
        <p14:creationId xmlns:p14="http://schemas.microsoft.com/office/powerpoint/2010/main" val="1548544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23BAE-D6EC-D1A0-8E9D-9954491B949F}"/>
              </a:ext>
            </a:extLst>
          </p:cNvPr>
          <p:cNvSpPr>
            <a:spLocks noGrp="1"/>
          </p:cNvSpPr>
          <p:nvPr>
            <p:ph type="title"/>
          </p:nvPr>
        </p:nvSpPr>
        <p:spPr>
          <a:xfrm>
            <a:off x="1141413" y="135439"/>
            <a:ext cx="9905998" cy="1478570"/>
          </a:xfrm>
        </p:spPr>
        <p:txBody>
          <a:bodyPr/>
          <a:lstStyle/>
          <a:p>
            <a:r>
              <a:rPr lang="en-IN" dirty="0"/>
              <a:t>Dataset Description</a:t>
            </a:r>
          </a:p>
        </p:txBody>
      </p:sp>
      <p:sp>
        <p:nvSpPr>
          <p:cNvPr id="3" name="Content Placeholder 2">
            <a:extLst>
              <a:ext uri="{FF2B5EF4-FFF2-40B4-BE49-F238E27FC236}">
                <a16:creationId xmlns:a16="http://schemas.microsoft.com/office/drawing/2014/main" id="{08365612-1311-568D-01AF-43D497568C79}"/>
              </a:ext>
            </a:extLst>
          </p:cNvPr>
          <p:cNvSpPr>
            <a:spLocks noGrp="1"/>
          </p:cNvSpPr>
          <p:nvPr>
            <p:ph idx="1"/>
          </p:nvPr>
        </p:nvSpPr>
        <p:spPr>
          <a:xfrm>
            <a:off x="784705" y="1269894"/>
            <a:ext cx="9905999" cy="3541714"/>
          </a:xfrm>
        </p:spPr>
        <p:txBody>
          <a:bodyPr/>
          <a:lstStyle/>
          <a:p>
            <a:pPr marL="0" indent="0">
              <a:buNone/>
            </a:pPr>
            <a:r>
              <a:rPr lang="en-US" b="1" dirty="0"/>
              <a:t>Dataset Used:</a:t>
            </a:r>
          </a:p>
          <a:p>
            <a:r>
              <a:rPr lang="en-US" dirty="0"/>
              <a:t>German Credit Dataset (UCI Repository)</a:t>
            </a:r>
          </a:p>
          <a:p>
            <a:r>
              <a:rPr lang="en-US" dirty="0"/>
              <a:t>Total records: 1000</a:t>
            </a:r>
          </a:p>
          <a:p>
            <a:r>
              <a:rPr lang="en-US" dirty="0"/>
              <a:t>Attributes: 20 condition attributes + 1 decision attribute</a:t>
            </a:r>
          </a:p>
          <a:p>
            <a:r>
              <a:rPr lang="en-US" dirty="0"/>
              <a:t>Target variable: Risk (Low Risk / High Risk)</a:t>
            </a:r>
          </a:p>
          <a:p>
            <a:endParaRPr lang="en-IN" dirty="0"/>
          </a:p>
        </p:txBody>
      </p:sp>
      <p:pic>
        <p:nvPicPr>
          <p:cNvPr id="5" name="Picture 4">
            <a:extLst>
              <a:ext uri="{FF2B5EF4-FFF2-40B4-BE49-F238E27FC236}">
                <a16:creationId xmlns:a16="http://schemas.microsoft.com/office/drawing/2014/main" id="{F3DF344D-DBD6-EB57-048F-A898A9310B11}"/>
              </a:ext>
            </a:extLst>
          </p:cNvPr>
          <p:cNvPicPr>
            <a:picLocks noChangeAspect="1"/>
          </p:cNvPicPr>
          <p:nvPr/>
        </p:nvPicPr>
        <p:blipFill>
          <a:blip r:embed="rId2"/>
          <a:stretch>
            <a:fillRect/>
          </a:stretch>
        </p:blipFill>
        <p:spPr>
          <a:xfrm>
            <a:off x="7999727" y="1677114"/>
            <a:ext cx="3861596" cy="2629267"/>
          </a:xfrm>
          <a:prstGeom prst="rect">
            <a:avLst/>
          </a:prstGeom>
        </p:spPr>
      </p:pic>
      <p:pic>
        <p:nvPicPr>
          <p:cNvPr id="9" name="Picture 8">
            <a:extLst>
              <a:ext uri="{FF2B5EF4-FFF2-40B4-BE49-F238E27FC236}">
                <a16:creationId xmlns:a16="http://schemas.microsoft.com/office/drawing/2014/main" id="{80F7B502-F6C4-2B14-034C-149D9D6A1422}"/>
              </a:ext>
            </a:extLst>
          </p:cNvPr>
          <p:cNvPicPr>
            <a:picLocks noChangeAspect="1"/>
          </p:cNvPicPr>
          <p:nvPr/>
        </p:nvPicPr>
        <p:blipFill>
          <a:blip r:embed="rId3"/>
          <a:stretch>
            <a:fillRect/>
          </a:stretch>
        </p:blipFill>
        <p:spPr>
          <a:xfrm>
            <a:off x="479834" y="4369487"/>
            <a:ext cx="11229156" cy="1991917"/>
          </a:xfrm>
          <a:prstGeom prst="rect">
            <a:avLst/>
          </a:prstGeom>
        </p:spPr>
      </p:pic>
    </p:spTree>
    <p:extLst>
      <p:ext uri="{BB962C8B-B14F-4D97-AF65-F5344CB8AC3E}">
        <p14:creationId xmlns:p14="http://schemas.microsoft.com/office/powerpoint/2010/main" val="2856501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3376C-0A8F-8B21-F237-F94B46232B4E}"/>
              </a:ext>
            </a:extLst>
          </p:cNvPr>
          <p:cNvSpPr>
            <a:spLocks noGrp="1"/>
          </p:cNvSpPr>
          <p:nvPr>
            <p:ph type="title"/>
          </p:nvPr>
        </p:nvSpPr>
        <p:spPr>
          <a:xfrm>
            <a:off x="1141413" y="213076"/>
            <a:ext cx="9905998" cy="1478570"/>
          </a:xfrm>
        </p:spPr>
        <p:txBody>
          <a:bodyPr/>
          <a:lstStyle/>
          <a:p>
            <a:r>
              <a:rPr lang="en-IN" dirty="0"/>
              <a:t>Dataset Description</a:t>
            </a:r>
          </a:p>
        </p:txBody>
      </p:sp>
      <p:sp>
        <p:nvSpPr>
          <p:cNvPr id="3" name="Content Placeholder 2">
            <a:extLst>
              <a:ext uri="{FF2B5EF4-FFF2-40B4-BE49-F238E27FC236}">
                <a16:creationId xmlns:a16="http://schemas.microsoft.com/office/drawing/2014/main" id="{18E7B937-C183-7EE3-640F-AAB986A97A97}"/>
              </a:ext>
            </a:extLst>
          </p:cNvPr>
          <p:cNvSpPr>
            <a:spLocks noGrp="1"/>
          </p:cNvSpPr>
          <p:nvPr>
            <p:ph idx="1"/>
          </p:nvPr>
        </p:nvSpPr>
        <p:spPr>
          <a:xfrm>
            <a:off x="1141412" y="1277578"/>
            <a:ext cx="9905999" cy="2374271"/>
          </a:xfrm>
        </p:spPr>
        <p:txBody>
          <a:bodyPr/>
          <a:lstStyle/>
          <a:p>
            <a:r>
              <a:rPr lang="en-US" b="1" dirty="0"/>
              <a:t>Target Distribution</a:t>
            </a:r>
          </a:p>
          <a:p>
            <a:r>
              <a:rPr lang="en-US" dirty="0"/>
              <a:t>Low Risk: 700</a:t>
            </a:r>
          </a:p>
          <a:p>
            <a:r>
              <a:rPr lang="en-US" dirty="0"/>
              <a:t>High Risk: 300</a:t>
            </a:r>
          </a:p>
          <a:p>
            <a:r>
              <a:rPr lang="en-US" dirty="0"/>
              <a:t>The dataset is moderately imbalanced (70:30 ratio).</a:t>
            </a:r>
          </a:p>
          <a:p>
            <a:pPr marL="0" indent="0">
              <a:buNone/>
            </a:pPr>
            <a:endParaRPr lang="en-IN" dirty="0"/>
          </a:p>
        </p:txBody>
      </p:sp>
      <p:pic>
        <p:nvPicPr>
          <p:cNvPr id="7" name="Picture 6">
            <a:extLst>
              <a:ext uri="{FF2B5EF4-FFF2-40B4-BE49-F238E27FC236}">
                <a16:creationId xmlns:a16="http://schemas.microsoft.com/office/drawing/2014/main" id="{51AB6FF3-731D-B406-3E49-15EC9794EDDD}"/>
              </a:ext>
            </a:extLst>
          </p:cNvPr>
          <p:cNvPicPr>
            <a:picLocks noChangeAspect="1"/>
          </p:cNvPicPr>
          <p:nvPr/>
        </p:nvPicPr>
        <p:blipFill>
          <a:blip r:embed="rId2"/>
          <a:stretch>
            <a:fillRect/>
          </a:stretch>
        </p:blipFill>
        <p:spPr>
          <a:xfrm>
            <a:off x="1224301" y="3852839"/>
            <a:ext cx="5229441" cy="2039002"/>
          </a:xfrm>
          <a:prstGeom prst="rect">
            <a:avLst/>
          </a:prstGeom>
        </p:spPr>
      </p:pic>
    </p:spTree>
    <p:extLst>
      <p:ext uri="{BB962C8B-B14F-4D97-AF65-F5344CB8AC3E}">
        <p14:creationId xmlns:p14="http://schemas.microsoft.com/office/powerpoint/2010/main" val="43959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AF51E-9CAA-8E46-F844-0B1C7F8458AB}"/>
              </a:ext>
            </a:extLst>
          </p:cNvPr>
          <p:cNvSpPr>
            <a:spLocks noGrp="1"/>
          </p:cNvSpPr>
          <p:nvPr>
            <p:ph type="title"/>
          </p:nvPr>
        </p:nvSpPr>
        <p:spPr>
          <a:xfrm>
            <a:off x="1219050" y="0"/>
            <a:ext cx="9905998" cy="1478570"/>
          </a:xfrm>
        </p:spPr>
        <p:txBody>
          <a:bodyPr/>
          <a:lstStyle/>
          <a:p>
            <a:r>
              <a:rPr lang="en-IN" dirty="0"/>
              <a:t>Data Cleaning and Preprocessing</a:t>
            </a:r>
          </a:p>
        </p:txBody>
      </p:sp>
      <p:sp>
        <p:nvSpPr>
          <p:cNvPr id="3" name="Content Placeholder 2">
            <a:extLst>
              <a:ext uri="{FF2B5EF4-FFF2-40B4-BE49-F238E27FC236}">
                <a16:creationId xmlns:a16="http://schemas.microsoft.com/office/drawing/2014/main" id="{AE12BE89-8431-B879-1910-444E152FA267}"/>
              </a:ext>
            </a:extLst>
          </p:cNvPr>
          <p:cNvSpPr>
            <a:spLocks noGrp="1"/>
          </p:cNvSpPr>
          <p:nvPr>
            <p:ph idx="1"/>
          </p:nvPr>
        </p:nvSpPr>
        <p:spPr>
          <a:xfrm>
            <a:off x="1055687" y="1049336"/>
            <a:ext cx="9905999" cy="5394595"/>
          </a:xfrm>
        </p:spPr>
        <p:txBody>
          <a:bodyPr>
            <a:normAutofit/>
          </a:bodyPr>
          <a:lstStyle/>
          <a:p>
            <a:r>
              <a:rPr lang="en-IN" dirty="0"/>
              <a:t>Renamed German attribute names to English</a:t>
            </a:r>
          </a:p>
          <a:p>
            <a:endParaRPr lang="en-IN" dirty="0"/>
          </a:p>
          <a:p>
            <a:endParaRPr lang="en-IN" dirty="0"/>
          </a:p>
          <a:p>
            <a:endParaRPr lang="en-IN" dirty="0"/>
          </a:p>
          <a:p>
            <a:r>
              <a:rPr lang="en-IN" dirty="0"/>
              <a:t>Converted numeric encodings to meaningful categories</a:t>
            </a:r>
          </a:p>
          <a:p>
            <a:endParaRPr lang="en-IN" dirty="0"/>
          </a:p>
          <a:p>
            <a:endParaRPr lang="en-IN" dirty="0"/>
          </a:p>
          <a:p>
            <a:endParaRPr lang="en-IN" dirty="0"/>
          </a:p>
          <a:p>
            <a:r>
              <a:rPr lang="en-IN" dirty="0"/>
              <a:t>Corrected pandas null parsing issue</a:t>
            </a:r>
          </a:p>
          <a:p>
            <a:endParaRPr lang="en-IN" dirty="0"/>
          </a:p>
        </p:txBody>
      </p:sp>
      <p:pic>
        <p:nvPicPr>
          <p:cNvPr id="5" name="Picture 4">
            <a:extLst>
              <a:ext uri="{FF2B5EF4-FFF2-40B4-BE49-F238E27FC236}">
                <a16:creationId xmlns:a16="http://schemas.microsoft.com/office/drawing/2014/main" id="{C89A20D0-B837-68DF-B0E1-13813F1EF1EA}"/>
              </a:ext>
            </a:extLst>
          </p:cNvPr>
          <p:cNvPicPr>
            <a:picLocks noChangeAspect="1"/>
          </p:cNvPicPr>
          <p:nvPr/>
        </p:nvPicPr>
        <p:blipFill>
          <a:blip r:embed="rId2"/>
          <a:srcRect l="929" r="28507"/>
          <a:stretch>
            <a:fillRect/>
          </a:stretch>
        </p:blipFill>
        <p:spPr>
          <a:xfrm>
            <a:off x="1230314" y="1772501"/>
            <a:ext cx="7973274" cy="1137622"/>
          </a:xfrm>
          <a:prstGeom prst="rect">
            <a:avLst/>
          </a:prstGeom>
        </p:spPr>
      </p:pic>
      <p:pic>
        <p:nvPicPr>
          <p:cNvPr id="7" name="Picture 6">
            <a:extLst>
              <a:ext uri="{FF2B5EF4-FFF2-40B4-BE49-F238E27FC236}">
                <a16:creationId xmlns:a16="http://schemas.microsoft.com/office/drawing/2014/main" id="{02632269-0116-1FB6-225A-CD35EF3F3E52}"/>
              </a:ext>
            </a:extLst>
          </p:cNvPr>
          <p:cNvPicPr>
            <a:picLocks noChangeAspect="1"/>
          </p:cNvPicPr>
          <p:nvPr/>
        </p:nvPicPr>
        <p:blipFill>
          <a:blip r:embed="rId3"/>
          <a:stretch>
            <a:fillRect/>
          </a:stretch>
        </p:blipFill>
        <p:spPr>
          <a:xfrm>
            <a:off x="1219050" y="4043402"/>
            <a:ext cx="7973274" cy="1267250"/>
          </a:xfrm>
          <a:prstGeom prst="rect">
            <a:avLst/>
          </a:prstGeom>
        </p:spPr>
      </p:pic>
    </p:spTree>
    <p:extLst>
      <p:ext uri="{BB962C8B-B14F-4D97-AF65-F5344CB8AC3E}">
        <p14:creationId xmlns:p14="http://schemas.microsoft.com/office/powerpoint/2010/main" val="199107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CB899-8F94-5CBE-870D-CB5C17D998C9}"/>
              </a:ext>
            </a:extLst>
          </p:cNvPr>
          <p:cNvSpPr>
            <a:spLocks noGrp="1"/>
          </p:cNvSpPr>
          <p:nvPr>
            <p:ph type="title"/>
          </p:nvPr>
        </p:nvSpPr>
        <p:spPr>
          <a:xfrm>
            <a:off x="1141413" y="100933"/>
            <a:ext cx="9905998" cy="1478570"/>
          </a:xfrm>
        </p:spPr>
        <p:txBody>
          <a:bodyPr/>
          <a:lstStyle/>
          <a:p>
            <a:r>
              <a:rPr lang="en-IN" dirty="0"/>
              <a:t>Data Cleaning and Preprocessing</a:t>
            </a:r>
          </a:p>
        </p:txBody>
      </p:sp>
      <p:sp>
        <p:nvSpPr>
          <p:cNvPr id="3" name="Content Placeholder 2">
            <a:extLst>
              <a:ext uri="{FF2B5EF4-FFF2-40B4-BE49-F238E27FC236}">
                <a16:creationId xmlns:a16="http://schemas.microsoft.com/office/drawing/2014/main" id="{3EAAA78C-AE06-2271-4113-9A272E1466EA}"/>
              </a:ext>
            </a:extLst>
          </p:cNvPr>
          <p:cNvSpPr>
            <a:spLocks noGrp="1"/>
          </p:cNvSpPr>
          <p:nvPr>
            <p:ph idx="1"/>
          </p:nvPr>
        </p:nvSpPr>
        <p:spPr>
          <a:xfrm>
            <a:off x="1141413" y="1579502"/>
            <a:ext cx="9905999" cy="4855803"/>
          </a:xfrm>
        </p:spPr>
        <p:txBody>
          <a:bodyPr>
            <a:normAutofit lnSpcReduction="10000"/>
          </a:bodyPr>
          <a:lstStyle/>
          <a:p>
            <a:r>
              <a:rPr lang="en-IN" dirty="0"/>
              <a:t>Ensured no missing values:</a:t>
            </a:r>
          </a:p>
          <a:p>
            <a:endParaRPr lang="en-IN" dirty="0"/>
          </a:p>
          <a:p>
            <a:endParaRPr lang="en-IN" dirty="0"/>
          </a:p>
          <a:p>
            <a:endParaRPr lang="en-IN" dirty="0"/>
          </a:p>
          <a:p>
            <a:endParaRPr lang="en-IN" dirty="0"/>
          </a:p>
          <a:p>
            <a:endParaRPr lang="en-IN" dirty="0"/>
          </a:p>
          <a:p>
            <a:r>
              <a:rPr lang="en-IN" dirty="0"/>
              <a:t>Applied quantile-based discretization</a:t>
            </a:r>
          </a:p>
          <a:p>
            <a:pPr lvl="1"/>
            <a:r>
              <a:rPr lang="en-US" b="1" dirty="0"/>
              <a:t>a data preprocessing technique that transforms continuous-valued attributes into discrete, categorical intervals (bins) to enable knowledge reduction and rule extraction</a:t>
            </a:r>
            <a:endParaRPr lang="en-IN" dirty="0"/>
          </a:p>
          <a:p>
            <a:endParaRPr lang="en-IN" dirty="0"/>
          </a:p>
        </p:txBody>
      </p:sp>
      <p:pic>
        <p:nvPicPr>
          <p:cNvPr id="5" name="Picture 4">
            <a:extLst>
              <a:ext uri="{FF2B5EF4-FFF2-40B4-BE49-F238E27FC236}">
                <a16:creationId xmlns:a16="http://schemas.microsoft.com/office/drawing/2014/main" id="{592C155B-0A50-E121-5175-9D63A74253C9}"/>
              </a:ext>
            </a:extLst>
          </p:cNvPr>
          <p:cNvPicPr>
            <a:picLocks noChangeAspect="1"/>
          </p:cNvPicPr>
          <p:nvPr/>
        </p:nvPicPr>
        <p:blipFill>
          <a:blip r:embed="rId2"/>
          <a:srcRect b="26206"/>
          <a:stretch>
            <a:fillRect/>
          </a:stretch>
        </p:blipFill>
        <p:spPr>
          <a:xfrm>
            <a:off x="5014723" y="1655701"/>
            <a:ext cx="2715004" cy="3065032"/>
          </a:xfrm>
          <a:prstGeom prst="rect">
            <a:avLst/>
          </a:prstGeom>
        </p:spPr>
      </p:pic>
    </p:spTree>
    <p:extLst>
      <p:ext uri="{BB962C8B-B14F-4D97-AF65-F5344CB8AC3E}">
        <p14:creationId xmlns:p14="http://schemas.microsoft.com/office/powerpoint/2010/main" val="163743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24FA-B418-BF9B-D47F-18A12C71EDE2}"/>
              </a:ext>
            </a:extLst>
          </p:cNvPr>
          <p:cNvSpPr>
            <a:spLocks noGrp="1"/>
          </p:cNvSpPr>
          <p:nvPr>
            <p:ph type="title"/>
          </p:nvPr>
        </p:nvSpPr>
        <p:spPr/>
        <p:txBody>
          <a:bodyPr/>
          <a:lstStyle/>
          <a:p>
            <a:r>
              <a:rPr lang="en-IN" dirty="0"/>
              <a:t>Preprocessing -Categorical Decoding</a:t>
            </a:r>
          </a:p>
        </p:txBody>
      </p:sp>
      <p:sp>
        <p:nvSpPr>
          <p:cNvPr id="3" name="Content Placeholder 2">
            <a:extLst>
              <a:ext uri="{FF2B5EF4-FFF2-40B4-BE49-F238E27FC236}">
                <a16:creationId xmlns:a16="http://schemas.microsoft.com/office/drawing/2014/main" id="{71C4E287-AA41-6DD4-8B8C-13CDC731EAE6}"/>
              </a:ext>
            </a:extLst>
          </p:cNvPr>
          <p:cNvSpPr>
            <a:spLocks noGrp="1"/>
          </p:cNvSpPr>
          <p:nvPr>
            <p:ph idx="1"/>
          </p:nvPr>
        </p:nvSpPr>
        <p:spPr/>
        <p:txBody>
          <a:bodyPr/>
          <a:lstStyle/>
          <a:p>
            <a:r>
              <a:rPr lang="en-US" dirty="0"/>
              <a:t>All encoded numeric values were converted to meaningful labels.</a:t>
            </a:r>
          </a:p>
          <a:p>
            <a:endParaRPr lang="en-IN" dirty="0"/>
          </a:p>
        </p:txBody>
      </p:sp>
      <p:graphicFrame>
        <p:nvGraphicFramePr>
          <p:cNvPr id="4" name="Table 3">
            <a:extLst>
              <a:ext uri="{FF2B5EF4-FFF2-40B4-BE49-F238E27FC236}">
                <a16:creationId xmlns:a16="http://schemas.microsoft.com/office/drawing/2014/main" id="{8D0AC9BA-02B2-45D4-8A6B-719AF3656914}"/>
              </a:ext>
            </a:extLst>
          </p:cNvPr>
          <p:cNvGraphicFramePr>
            <a:graphicFrameLocks noGrp="1"/>
          </p:cNvGraphicFramePr>
          <p:nvPr>
            <p:extLst>
              <p:ext uri="{D42A27DB-BD31-4B8C-83A1-F6EECF244321}">
                <p14:modId xmlns:p14="http://schemas.microsoft.com/office/powerpoint/2010/main" val="245001339"/>
              </p:ext>
            </p:extLst>
          </p:nvPr>
        </p:nvGraphicFramePr>
        <p:xfrm>
          <a:off x="1141411" y="2697480"/>
          <a:ext cx="9906000" cy="1463040"/>
        </p:xfrm>
        <a:graphic>
          <a:graphicData uri="http://schemas.openxmlformats.org/drawingml/2006/table">
            <a:tbl>
              <a:tblPr/>
              <a:tblGrid>
                <a:gridCol w="4953000">
                  <a:extLst>
                    <a:ext uri="{9D8B030D-6E8A-4147-A177-3AD203B41FA5}">
                      <a16:colId xmlns:a16="http://schemas.microsoft.com/office/drawing/2014/main" val="2673638714"/>
                    </a:ext>
                  </a:extLst>
                </a:gridCol>
                <a:gridCol w="4953000">
                  <a:extLst>
                    <a:ext uri="{9D8B030D-6E8A-4147-A177-3AD203B41FA5}">
                      <a16:colId xmlns:a16="http://schemas.microsoft.com/office/drawing/2014/main" val="4280542282"/>
                    </a:ext>
                  </a:extLst>
                </a:gridCol>
              </a:tblGrid>
              <a:tr h="0">
                <a:tc>
                  <a:txBody>
                    <a:bodyPr/>
                    <a:lstStyle/>
                    <a:p>
                      <a:pPr>
                        <a:buNone/>
                      </a:pPr>
                      <a:r>
                        <a:rPr lang="en-IN"/>
                        <a:t>Encoded</a:t>
                      </a:r>
                    </a:p>
                  </a:txBody>
                  <a:tcPr anchor="ctr">
                    <a:lnL>
                      <a:noFill/>
                    </a:lnL>
                    <a:lnR>
                      <a:noFill/>
                    </a:lnR>
                    <a:lnT>
                      <a:noFill/>
                    </a:lnT>
                    <a:lnB>
                      <a:noFill/>
                    </a:lnB>
                    <a:noFill/>
                  </a:tcPr>
                </a:tc>
                <a:tc>
                  <a:txBody>
                    <a:bodyPr/>
                    <a:lstStyle/>
                    <a:p>
                      <a:pPr>
                        <a:buNone/>
                      </a:pPr>
                      <a:r>
                        <a:rPr lang="en-IN"/>
                        <a:t>Decoded</a:t>
                      </a:r>
                    </a:p>
                  </a:txBody>
                  <a:tcPr anchor="ctr">
                    <a:lnL>
                      <a:noFill/>
                    </a:lnL>
                    <a:lnR>
                      <a:noFill/>
                    </a:lnR>
                    <a:lnT>
                      <a:noFill/>
                    </a:lnT>
                    <a:lnB>
                      <a:noFill/>
                    </a:lnB>
                    <a:noFill/>
                  </a:tcPr>
                </a:tc>
                <a:extLst>
                  <a:ext uri="{0D108BD9-81ED-4DB2-BD59-A6C34878D82A}">
                    <a16:rowId xmlns:a16="http://schemas.microsoft.com/office/drawing/2014/main" val="1233730939"/>
                  </a:ext>
                </a:extLst>
              </a:tr>
              <a:tr h="0">
                <a:tc>
                  <a:txBody>
                    <a:bodyPr/>
                    <a:lstStyle/>
                    <a:p>
                      <a:pPr>
                        <a:buNone/>
                      </a:pPr>
                      <a:r>
                        <a:rPr lang="en-IN"/>
                        <a:t>CreditHistory = 4</a:t>
                      </a:r>
                    </a:p>
                  </a:txBody>
                  <a:tcPr anchor="ctr">
                    <a:lnL>
                      <a:noFill/>
                    </a:lnL>
                    <a:lnR>
                      <a:noFill/>
                    </a:lnR>
                    <a:lnT>
                      <a:noFill/>
                    </a:lnT>
                    <a:lnB>
                      <a:noFill/>
                    </a:lnB>
                    <a:noFill/>
                  </a:tcPr>
                </a:tc>
                <a:tc>
                  <a:txBody>
                    <a:bodyPr/>
                    <a:lstStyle/>
                    <a:p>
                      <a:pPr>
                        <a:buNone/>
                      </a:pPr>
                      <a:r>
                        <a:rPr lang="en-IN"/>
                        <a:t>Critical account</a:t>
                      </a:r>
                    </a:p>
                  </a:txBody>
                  <a:tcPr anchor="ctr">
                    <a:lnL>
                      <a:noFill/>
                    </a:lnL>
                    <a:lnR>
                      <a:noFill/>
                    </a:lnR>
                    <a:lnT>
                      <a:noFill/>
                    </a:lnT>
                    <a:lnB>
                      <a:noFill/>
                    </a:lnB>
                    <a:noFill/>
                  </a:tcPr>
                </a:tc>
                <a:extLst>
                  <a:ext uri="{0D108BD9-81ED-4DB2-BD59-A6C34878D82A}">
                    <a16:rowId xmlns:a16="http://schemas.microsoft.com/office/drawing/2014/main" val="1420170572"/>
                  </a:ext>
                </a:extLst>
              </a:tr>
              <a:tr h="0">
                <a:tc>
                  <a:txBody>
                    <a:bodyPr/>
                    <a:lstStyle/>
                    <a:p>
                      <a:pPr>
                        <a:buNone/>
                      </a:pPr>
                      <a:r>
                        <a:rPr lang="en-IN"/>
                        <a:t>SavingsAccount = 1</a:t>
                      </a:r>
                    </a:p>
                  </a:txBody>
                  <a:tcPr anchor="ctr">
                    <a:lnL>
                      <a:noFill/>
                    </a:lnL>
                    <a:lnR>
                      <a:noFill/>
                    </a:lnR>
                    <a:lnT>
                      <a:noFill/>
                    </a:lnT>
                    <a:lnB>
                      <a:noFill/>
                    </a:lnB>
                    <a:noFill/>
                  </a:tcPr>
                </a:tc>
                <a:tc>
                  <a:txBody>
                    <a:bodyPr/>
                    <a:lstStyle/>
                    <a:p>
                      <a:pPr>
                        <a:buNone/>
                      </a:pPr>
                      <a:r>
                        <a:rPr lang="en-IN"/>
                        <a:t>&lt; 100 DM</a:t>
                      </a:r>
                    </a:p>
                  </a:txBody>
                  <a:tcPr anchor="ctr">
                    <a:lnL>
                      <a:noFill/>
                    </a:lnL>
                    <a:lnR>
                      <a:noFill/>
                    </a:lnR>
                    <a:lnT>
                      <a:noFill/>
                    </a:lnT>
                    <a:lnB>
                      <a:noFill/>
                    </a:lnB>
                    <a:noFill/>
                  </a:tcPr>
                </a:tc>
                <a:extLst>
                  <a:ext uri="{0D108BD9-81ED-4DB2-BD59-A6C34878D82A}">
                    <a16:rowId xmlns:a16="http://schemas.microsoft.com/office/drawing/2014/main" val="375152543"/>
                  </a:ext>
                </a:extLst>
              </a:tr>
              <a:tr h="0">
                <a:tc>
                  <a:txBody>
                    <a:bodyPr/>
                    <a:lstStyle/>
                    <a:p>
                      <a:pPr>
                        <a:buNone/>
                      </a:pPr>
                      <a:r>
                        <a:rPr lang="en-IN"/>
                        <a:t>Housing = 2</a:t>
                      </a:r>
                    </a:p>
                  </a:txBody>
                  <a:tcPr anchor="ctr">
                    <a:lnL>
                      <a:noFill/>
                    </a:lnL>
                    <a:lnR>
                      <a:noFill/>
                    </a:lnR>
                    <a:lnT>
                      <a:noFill/>
                    </a:lnT>
                    <a:lnB>
                      <a:noFill/>
                    </a:lnB>
                    <a:noFill/>
                  </a:tcPr>
                </a:tc>
                <a:tc>
                  <a:txBody>
                    <a:bodyPr/>
                    <a:lstStyle/>
                    <a:p>
                      <a:pPr>
                        <a:buNone/>
                      </a:pPr>
                      <a:r>
                        <a:rPr lang="en-IN" dirty="0"/>
                        <a:t>Own</a:t>
                      </a:r>
                    </a:p>
                  </a:txBody>
                  <a:tcPr anchor="ctr">
                    <a:lnL>
                      <a:noFill/>
                    </a:lnL>
                    <a:lnR>
                      <a:noFill/>
                    </a:lnR>
                    <a:lnT>
                      <a:noFill/>
                    </a:lnT>
                    <a:lnB>
                      <a:noFill/>
                    </a:lnB>
                    <a:noFill/>
                  </a:tcPr>
                </a:tc>
                <a:extLst>
                  <a:ext uri="{0D108BD9-81ED-4DB2-BD59-A6C34878D82A}">
                    <a16:rowId xmlns:a16="http://schemas.microsoft.com/office/drawing/2014/main" val="1513535337"/>
                  </a:ext>
                </a:extLst>
              </a:tr>
            </a:tbl>
          </a:graphicData>
        </a:graphic>
      </p:graphicFrame>
      <p:pic>
        <p:nvPicPr>
          <p:cNvPr id="5" name="Picture 4">
            <a:extLst>
              <a:ext uri="{FF2B5EF4-FFF2-40B4-BE49-F238E27FC236}">
                <a16:creationId xmlns:a16="http://schemas.microsoft.com/office/drawing/2014/main" id="{F462FEA8-AB36-1A29-AD59-6DDFDFC6BD7C}"/>
              </a:ext>
            </a:extLst>
          </p:cNvPr>
          <p:cNvPicPr>
            <a:picLocks noChangeAspect="1"/>
          </p:cNvPicPr>
          <p:nvPr/>
        </p:nvPicPr>
        <p:blipFill>
          <a:blip r:embed="rId2"/>
          <a:stretch>
            <a:fillRect/>
          </a:stretch>
        </p:blipFill>
        <p:spPr>
          <a:xfrm>
            <a:off x="1797020" y="4342235"/>
            <a:ext cx="7973274" cy="1267250"/>
          </a:xfrm>
          <a:prstGeom prst="rect">
            <a:avLst/>
          </a:prstGeom>
        </p:spPr>
      </p:pic>
    </p:spTree>
    <p:extLst>
      <p:ext uri="{BB962C8B-B14F-4D97-AF65-F5344CB8AC3E}">
        <p14:creationId xmlns:p14="http://schemas.microsoft.com/office/powerpoint/2010/main" val="524664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678E-F37D-90AB-CB7C-ECF71E319A2A}"/>
              </a:ext>
            </a:extLst>
          </p:cNvPr>
          <p:cNvSpPr>
            <a:spLocks noGrp="1"/>
          </p:cNvSpPr>
          <p:nvPr>
            <p:ph type="title"/>
          </p:nvPr>
        </p:nvSpPr>
        <p:spPr>
          <a:xfrm>
            <a:off x="1296689" y="0"/>
            <a:ext cx="9905998" cy="1478570"/>
          </a:xfrm>
        </p:spPr>
        <p:txBody>
          <a:bodyPr>
            <a:normAutofit/>
          </a:bodyPr>
          <a:lstStyle/>
          <a:p>
            <a:r>
              <a:rPr lang="en-IN" sz="3200" dirty="0"/>
              <a:t>Preprocessing -Discretization (Quantile-Based)</a:t>
            </a:r>
          </a:p>
        </p:txBody>
      </p:sp>
      <p:sp>
        <p:nvSpPr>
          <p:cNvPr id="3" name="Content Placeholder 2">
            <a:extLst>
              <a:ext uri="{FF2B5EF4-FFF2-40B4-BE49-F238E27FC236}">
                <a16:creationId xmlns:a16="http://schemas.microsoft.com/office/drawing/2014/main" id="{78E22DFE-4489-A942-A041-F264C7D5FD66}"/>
              </a:ext>
            </a:extLst>
          </p:cNvPr>
          <p:cNvSpPr>
            <a:spLocks noGrp="1"/>
          </p:cNvSpPr>
          <p:nvPr>
            <p:ph idx="1"/>
          </p:nvPr>
        </p:nvSpPr>
        <p:spPr>
          <a:xfrm>
            <a:off x="1426083" y="1478570"/>
            <a:ext cx="9840015" cy="5077649"/>
          </a:xfrm>
        </p:spPr>
        <p:txBody>
          <a:bodyPr>
            <a:noAutofit/>
          </a:bodyPr>
          <a:lstStyle/>
          <a:p>
            <a:pPr marL="0" indent="0">
              <a:lnSpc>
                <a:spcPct val="100000"/>
              </a:lnSpc>
              <a:buNone/>
            </a:pPr>
            <a:r>
              <a:rPr lang="en-IN" sz="1600" dirty="0"/>
              <a:t>Continuous variables were discretized into three categories using equal-frequency binning.</a:t>
            </a:r>
          </a:p>
          <a:p>
            <a:pPr marL="0" indent="0">
              <a:lnSpc>
                <a:spcPct val="100000"/>
              </a:lnSpc>
              <a:buNone/>
            </a:pPr>
            <a:r>
              <a:rPr lang="en-IN" sz="1600" b="1" dirty="0"/>
              <a:t>Age → </a:t>
            </a:r>
            <a:r>
              <a:rPr lang="en-IN" sz="1600" b="1" dirty="0" err="1"/>
              <a:t>AgeCategory</a:t>
            </a:r>
            <a:endParaRPr lang="en-IN" sz="1600" b="1" dirty="0"/>
          </a:p>
          <a:p>
            <a:pPr>
              <a:lnSpc>
                <a:spcPct val="100000"/>
              </a:lnSpc>
            </a:pPr>
            <a:r>
              <a:rPr lang="en-IN" sz="1600" dirty="0"/>
              <a:t>Young</a:t>
            </a:r>
          </a:p>
          <a:p>
            <a:pPr>
              <a:lnSpc>
                <a:spcPct val="100000"/>
              </a:lnSpc>
            </a:pPr>
            <a:r>
              <a:rPr lang="en-IN" sz="1600" dirty="0"/>
              <a:t>Middle-aged</a:t>
            </a:r>
          </a:p>
          <a:p>
            <a:pPr>
              <a:lnSpc>
                <a:spcPct val="100000"/>
              </a:lnSpc>
            </a:pPr>
            <a:r>
              <a:rPr lang="en-IN" sz="1600" dirty="0"/>
              <a:t>Senior</a:t>
            </a:r>
          </a:p>
          <a:p>
            <a:pPr marL="0" indent="0">
              <a:lnSpc>
                <a:spcPct val="100000"/>
              </a:lnSpc>
              <a:buNone/>
            </a:pPr>
            <a:r>
              <a:rPr lang="en-IN" sz="1600" b="1" dirty="0"/>
              <a:t>Duration → </a:t>
            </a:r>
            <a:r>
              <a:rPr lang="en-IN" sz="1600" b="1" dirty="0" err="1"/>
              <a:t>DurationCategory</a:t>
            </a:r>
            <a:endParaRPr lang="en-IN" sz="1600" b="1" dirty="0"/>
          </a:p>
          <a:p>
            <a:pPr>
              <a:lnSpc>
                <a:spcPct val="100000"/>
              </a:lnSpc>
            </a:pPr>
            <a:r>
              <a:rPr lang="en-IN" sz="1600" dirty="0"/>
              <a:t>Short</a:t>
            </a:r>
          </a:p>
          <a:p>
            <a:pPr>
              <a:lnSpc>
                <a:spcPct val="100000"/>
              </a:lnSpc>
            </a:pPr>
            <a:r>
              <a:rPr lang="en-IN" sz="1600" dirty="0"/>
              <a:t>Medium</a:t>
            </a:r>
          </a:p>
          <a:p>
            <a:pPr>
              <a:lnSpc>
                <a:spcPct val="100000"/>
              </a:lnSpc>
            </a:pPr>
            <a:r>
              <a:rPr lang="en-IN" sz="1600" dirty="0"/>
              <a:t>Long</a:t>
            </a:r>
          </a:p>
          <a:p>
            <a:pPr marL="0" indent="0">
              <a:lnSpc>
                <a:spcPct val="100000"/>
              </a:lnSpc>
              <a:buNone/>
            </a:pPr>
            <a:r>
              <a:rPr lang="en-IN" sz="1600" b="1" dirty="0" err="1"/>
              <a:t>CreditAmount</a:t>
            </a:r>
            <a:r>
              <a:rPr lang="en-IN" sz="1600" b="1" dirty="0"/>
              <a:t> → </a:t>
            </a:r>
            <a:r>
              <a:rPr lang="en-IN" sz="1600" b="1" dirty="0" err="1"/>
              <a:t>CreditAmountCategory</a:t>
            </a:r>
            <a:endParaRPr lang="en-IN" sz="1600" b="1" dirty="0"/>
          </a:p>
          <a:p>
            <a:pPr>
              <a:lnSpc>
                <a:spcPct val="100000"/>
              </a:lnSpc>
            </a:pPr>
            <a:r>
              <a:rPr lang="en-IN" sz="1600" dirty="0"/>
              <a:t>Low</a:t>
            </a:r>
          </a:p>
          <a:p>
            <a:pPr>
              <a:lnSpc>
                <a:spcPct val="100000"/>
              </a:lnSpc>
            </a:pPr>
            <a:r>
              <a:rPr lang="en-IN" sz="1600" dirty="0"/>
              <a:t>Medium</a:t>
            </a:r>
          </a:p>
          <a:p>
            <a:pPr>
              <a:lnSpc>
                <a:spcPct val="100000"/>
              </a:lnSpc>
            </a:pPr>
            <a:r>
              <a:rPr lang="en-IN" sz="1600" dirty="0"/>
              <a:t>High</a:t>
            </a:r>
          </a:p>
        </p:txBody>
      </p:sp>
      <p:pic>
        <p:nvPicPr>
          <p:cNvPr id="5" name="Picture 4">
            <a:extLst>
              <a:ext uri="{FF2B5EF4-FFF2-40B4-BE49-F238E27FC236}">
                <a16:creationId xmlns:a16="http://schemas.microsoft.com/office/drawing/2014/main" id="{4FD52823-14B4-24B5-1FB6-FE91A58135C5}"/>
              </a:ext>
            </a:extLst>
          </p:cNvPr>
          <p:cNvPicPr>
            <a:picLocks noChangeAspect="1"/>
          </p:cNvPicPr>
          <p:nvPr/>
        </p:nvPicPr>
        <p:blipFill>
          <a:blip r:embed="rId2"/>
          <a:srcRect l="40826"/>
          <a:stretch>
            <a:fillRect/>
          </a:stretch>
        </p:blipFill>
        <p:spPr>
          <a:xfrm>
            <a:off x="4537494" y="2724227"/>
            <a:ext cx="7214560" cy="1558565"/>
          </a:xfrm>
          <a:prstGeom prst="rect">
            <a:avLst/>
          </a:prstGeom>
        </p:spPr>
      </p:pic>
    </p:spTree>
    <p:extLst>
      <p:ext uri="{BB962C8B-B14F-4D97-AF65-F5344CB8AC3E}">
        <p14:creationId xmlns:p14="http://schemas.microsoft.com/office/powerpoint/2010/main" val="190617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2A012-869B-75E4-87D4-67001C612D56}"/>
              </a:ext>
            </a:extLst>
          </p:cNvPr>
          <p:cNvSpPr>
            <a:spLocks noGrp="1"/>
          </p:cNvSpPr>
          <p:nvPr>
            <p:ph type="title"/>
          </p:nvPr>
        </p:nvSpPr>
        <p:spPr>
          <a:xfrm>
            <a:off x="1141413" y="0"/>
            <a:ext cx="9905998" cy="1478570"/>
          </a:xfrm>
        </p:spPr>
        <p:txBody>
          <a:bodyPr/>
          <a:lstStyle/>
          <a:p>
            <a:r>
              <a:rPr lang="en-IN" dirty="0"/>
              <a:t>Rough Set Theory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A9EE45-1E1E-3419-2894-52F3BD280683}"/>
                  </a:ext>
                </a:extLst>
              </p:cNvPr>
              <p:cNvSpPr>
                <a:spLocks noGrp="1"/>
              </p:cNvSpPr>
              <p:nvPr>
                <p:ph idx="1"/>
              </p:nvPr>
            </p:nvSpPr>
            <p:spPr>
              <a:xfrm>
                <a:off x="1141413" y="1222944"/>
                <a:ext cx="9905999" cy="5186482"/>
              </a:xfrm>
            </p:spPr>
            <p:txBody>
              <a:bodyPr>
                <a:normAutofit/>
              </a:bodyPr>
              <a:lstStyle/>
              <a:p>
                <a:pPr marL="0" indent="0">
                  <a:buNone/>
                </a:pPr>
                <a:r>
                  <a:rPr lang="en-IN" b="1" dirty="0"/>
                  <a:t>Decision Table</a:t>
                </a:r>
              </a:p>
              <a:p>
                <a:pPr lvl="1"/>
                <a:r>
                  <a:rPr lang="en-IN" dirty="0"/>
                  <a:t>A decision table is defined as:</a:t>
                </a:r>
              </a:p>
              <a:p>
                <a:pPr lvl="1"/>
                <a14:m>
                  <m:oMath xmlns:m="http://schemas.openxmlformats.org/officeDocument/2006/math">
                    <m:r>
                      <a:rPr lang="en-IN" i="1">
                        <a:latin typeface="Cambria Math" panose="02040503050406030204" pitchFamily="18" charset="0"/>
                      </a:rPr>
                      <m:t>𝐷𝑇</m:t>
                    </m:r>
                    <m:r>
                      <a:rPr lang="en-IN">
                        <a:latin typeface="Cambria Math" panose="02040503050406030204" pitchFamily="18" charset="0"/>
                      </a:rPr>
                      <m:t>=</m:t>
                    </m:r>
                    <m:d>
                      <m:dPr>
                        <m:sepChr m:val=","/>
                        <m:ctrlPr>
                          <a:rPr lang="ar-AE" i="1">
                            <a:latin typeface="Cambria Math" panose="02040503050406030204" pitchFamily="18" charset="0"/>
                          </a:rPr>
                        </m:ctrlPr>
                      </m:dPr>
                      <m:e>
                        <m:r>
                          <a:rPr lang="ar-AE" i="1">
                            <a:latin typeface="Cambria Math" panose="02040503050406030204" pitchFamily="18" charset="0"/>
                          </a:rPr>
                          <m:t>𝑈</m:t>
                        </m:r>
                      </m:e>
                      <m:e>
                        <m:r>
                          <a:rPr lang="ar-AE" i="1">
                            <a:latin typeface="Cambria Math" panose="02040503050406030204" pitchFamily="18" charset="0"/>
                          </a:rPr>
                          <m:t>𝐴</m:t>
                        </m:r>
                        <m:r>
                          <a:rPr lang="ar-AE">
                            <a:latin typeface="Cambria Math" panose="02040503050406030204" pitchFamily="18" charset="0"/>
                          </a:rPr>
                          <m:t>∪</m:t>
                        </m:r>
                        <m:d>
                          <m:dPr>
                            <m:begChr m:val="{"/>
                            <m:endChr m:val="}"/>
                            <m:ctrlPr>
                              <a:rPr lang="ar-AE" i="1">
                                <a:latin typeface="Cambria Math" panose="02040503050406030204" pitchFamily="18" charset="0"/>
                              </a:rPr>
                            </m:ctrlPr>
                          </m:dPr>
                          <m:e>
                            <m:r>
                              <a:rPr lang="ar-AE" i="1">
                                <a:latin typeface="Cambria Math" panose="02040503050406030204" pitchFamily="18" charset="0"/>
                              </a:rPr>
                              <m:t>𝐷</m:t>
                            </m:r>
                          </m:e>
                        </m:d>
                      </m:e>
                    </m:d>
                  </m:oMath>
                </a14:m>
                <a:endParaRPr lang="ar-AE" dirty="0"/>
              </a:p>
              <a:p>
                <a:pPr lvl="1"/>
                <a:r>
                  <a:rPr lang="en-IN" dirty="0"/>
                  <a:t>Where:</a:t>
                </a:r>
              </a:p>
              <a:p>
                <a:pPr lvl="1"/>
                <a:r>
                  <a:rPr lang="en-IN" dirty="0"/>
                  <a:t>U = set of 1000 applicants</a:t>
                </a:r>
              </a:p>
              <a:p>
                <a:pPr lvl="1"/>
                <a:r>
                  <a:rPr lang="en-IN" dirty="0"/>
                  <a:t>A = condition attributes</a:t>
                </a:r>
              </a:p>
              <a:p>
                <a:pPr lvl="1"/>
                <a:r>
                  <a:rPr lang="en-IN" dirty="0"/>
                  <a:t>D = Risk (decision attribute)</a:t>
                </a:r>
              </a:p>
              <a:p>
                <a:pPr marL="0" indent="0">
                  <a:buNone/>
                </a:pPr>
                <a:r>
                  <a:rPr lang="en-US" b="1" dirty="0"/>
                  <a:t>Indiscernibility Relation:</a:t>
                </a:r>
              </a:p>
              <a:p>
                <a:pPr lvl="1"/>
                <a:r>
                  <a:rPr lang="en-US" dirty="0"/>
                  <a:t>Two objects are indiscernible if they share identical attribute values.</a:t>
                </a:r>
              </a:p>
              <a:p>
                <a:pPr lvl="1"/>
                <a:r>
                  <a:rPr lang="en-US" dirty="0"/>
                  <a:t>This forms equivalence classes.</a:t>
                </a:r>
                <a:endParaRPr lang="en-IN" dirty="0"/>
              </a:p>
              <a:p>
                <a:endParaRPr lang="en-IN" dirty="0"/>
              </a:p>
            </p:txBody>
          </p:sp>
        </mc:Choice>
        <mc:Fallback xmlns="">
          <p:sp>
            <p:nvSpPr>
              <p:cNvPr id="3" name="Content Placeholder 2">
                <a:extLst>
                  <a:ext uri="{FF2B5EF4-FFF2-40B4-BE49-F238E27FC236}">
                    <a16:creationId xmlns:a16="http://schemas.microsoft.com/office/drawing/2014/main" id="{67A9EE45-1E1E-3419-2894-52F3BD280683}"/>
                  </a:ext>
                </a:extLst>
              </p:cNvPr>
              <p:cNvSpPr>
                <a:spLocks noGrp="1" noRot="1" noChangeAspect="1" noMove="1" noResize="1" noEditPoints="1" noAdjustHandles="1" noChangeArrowheads="1" noChangeShapeType="1" noTextEdit="1"/>
              </p:cNvSpPr>
              <p:nvPr>
                <p:ph idx="1"/>
              </p:nvPr>
            </p:nvSpPr>
            <p:spPr>
              <a:xfrm>
                <a:off x="1141413" y="1222944"/>
                <a:ext cx="9905999" cy="5186482"/>
              </a:xfrm>
              <a:blipFill>
                <a:blip r:embed="rId2"/>
                <a:stretch>
                  <a:fillRect l="-923" t="-118"/>
                </a:stretch>
              </a:blipFill>
            </p:spPr>
            <p:txBody>
              <a:bodyPr/>
              <a:lstStyle/>
              <a:p>
                <a:r>
                  <a:rPr lang="en-IN">
                    <a:noFill/>
                  </a:rPr>
                  <a:t> </a:t>
                </a:r>
              </a:p>
            </p:txBody>
          </p:sp>
        </mc:Fallback>
      </mc:AlternateContent>
    </p:spTree>
    <p:extLst>
      <p:ext uri="{BB962C8B-B14F-4D97-AF65-F5344CB8AC3E}">
        <p14:creationId xmlns:p14="http://schemas.microsoft.com/office/powerpoint/2010/main" val="149460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9C0A2-AE88-06DC-4BB4-FF0D5F11BA08}"/>
              </a:ext>
            </a:extLst>
          </p:cNvPr>
          <p:cNvSpPr>
            <a:spLocks noGrp="1"/>
          </p:cNvSpPr>
          <p:nvPr>
            <p:ph type="title"/>
          </p:nvPr>
        </p:nvSpPr>
        <p:spPr>
          <a:xfrm>
            <a:off x="1227677" y="0"/>
            <a:ext cx="9905998" cy="1478570"/>
          </a:xfrm>
        </p:spPr>
        <p:txBody>
          <a:bodyPr/>
          <a:lstStyle/>
          <a:p>
            <a:r>
              <a:rPr lang="en-IN" dirty="0"/>
              <a:t>Rough Set Theory Framework</a:t>
            </a:r>
          </a:p>
        </p:txBody>
      </p:sp>
      <p:sp>
        <p:nvSpPr>
          <p:cNvPr id="3" name="Content Placeholder 2">
            <a:extLst>
              <a:ext uri="{FF2B5EF4-FFF2-40B4-BE49-F238E27FC236}">
                <a16:creationId xmlns:a16="http://schemas.microsoft.com/office/drawing/2014/main" id="{73132094-30CA-C0D4-CFB0-D96A33F59047}"/>
              </a:ext>
            </a:extLst>
          </p:cNvPr>
          <p:cNvSpPr>
            <a:spLocks noGrp="1"/>
          </p:cNvSpPr>
          <p:nvPr>
            <p:ph idx="1"/>
          </p:nvPr>
        </p:nvSpPr>
        <p:spPr>
          <a:xfrm>
            <a:off x="1141412" y="1216325"/>
            <a:ext cx="9905999" cy="5210354"/>
          </a:xfrm>
        </p:spPr>
        <p:txBody>
          <a:bodyPr>
            <a:normAutofit fontScale="92500" lnSpcReduction="10000"/>
          </a:bodyPr>
          <a:lstStyle/>
          <a:p>
            <a:pPr marL="0" indent="0">
              <a:buNone/>
            </a:pPr>
            <a:r>
              <a:rPr lang="en-US" b="1"/>
              <a:t>Lower and Upper Approximation</a:t>
            </a:r>
          </a:p>
          <a:p>
            <a:pPr lvl="1"/>
            <a:r>
              <a:rPr lang="en-US"/>
              <a:t>For class “High Risk”:</a:t>
            </a:r>
          </a:p>
          <a:p>
            <a:pPr lvl="1"/>
            <a:r>
              <a:rPr lang="en-US"/>
              <a:t>Lower Approximation → Definitely high risk</a:t>
            </a:r>
          </a:p>
          <a:p>
            <a:pPr lvl="1"/>
            <a:r>
              <a:rPr lang="en-US"/>
              <a:t>Upper Approximation → Possibly high risk</a:t>
            </a:r>
          </a:p>
          <a:p>
            <a:pPr lvl="1"/>
            <a:r>
              <a:rPr lang="en-US"/>
              <a:t>This handles inconsistency in data.</a:t>
            </a:r>
          </a:p>
          <a:p>
            <a:pPr marL="0" indent="0">
              <a:buNone/>
            </a:pPr>
            <a:r>
              <a:rPr lang="en-US" b="1"/>
              <a:t>Reduct Concept</a:t>
            </a:r>
          </a:p>
          <a:p>
            <a:pPr lvl="1"/>
            <a:r>
              <a:rPr lang="en-US"/>
              <a:t>Reduct = Minimal subset of attributes preserving classification ability.</a:t>
            </a:r>
          </a:p>
          <a:p>
            <a:pPr lvl="1"/>
            <a:r>
              <a:rPr lang="en-US"/>
              <a:t>Goal:</a:t>
            </a:r>
            <a:br>
              <a:rPr lang="en-US"/>
            </a:br>
            <a:r>
              <a:rPr lang="en-US"/>
              <a:t>Reduce 20 attributes → smaller essential subset.</a:t>
            </a:r>
          </a:p>
          <a:p>
            <a:pPr lvl="1"/>
            <a:r>
              <a:rPr lang="en-US"/>
              <a:t>Benefits:</a:t>
            </a:r>
          </a:p>
          <a:p>
            <a:pPr lvl="1"/>
            <a:r>
              <a:rPr lang="en-US"/>
              <a:t>Reduced complexity</a:t>
            </a:r>
          </a:p>
          <a:p>
            <a:pPr lvl="1"/>
            <a:r>
              <a:rPr lang="en-US"/>
              <a:t>Improved interpretability</a:t>
            </a:r>
          </a:p>
          <a:p>
            <a:pPr lvl="1"/>
            <a:r>
              <a:rPr lang="en-US"/>
              <a:t>Stronger rule clarity</a:t>
            </a:r>
          </a:p>
          <a:p>
            <a:endParaRPr lang="en-IN" dirty="0"/>
          </a:p>
        </p:txBody>
      </p:sp>
      <p:pic>
        <p:nvPicPr>
          <p:cNvPr id="5" name="Picture 4">
            <a:extLst>
              <a:ext uri="{FF2B5EF4-FFF2-40B4-BE49-F238E27FC236}">
                <a16:creationId xmlns:a16="http://schemas.microsoft.com/office/drawing/2014/main" id="{23A96D77-AD43-8AB5-8364-B718B6C60CC6}"/>
              </a:ext>
            </a:extLst>
          </p:cNvPr>
          <p:cNvPicPr>
            <a:picLocks noChangeAspect="1"/>
          </p:cNvPicPr>
          <p:nvPr/>
        </p:nvPicPr>
        <p:blipFill>
          <a:blip r:embed="rId2"/>
          <a:srcRect b="50360"/>
          <a:stretch>
            <a:fillRect/>
          </a:stretch>
        </p:blipFill>
        <p:spPr>
          <a:xfrm>
            <a:off x="6887225" y="1478570"/>
            <a:ext cx="4848902" cy="1603075"/>
          </a:xfrm>
          <a:prstGeom prst="rect">
            <a:avLst/>
          </a:prstGeom>
        </p:spPr>
      </p:pic>
      <p:pic>
        <p:nvPicPr>
          <p:cNvPr id="7" name="Picture 6">
            <a:extLst>
              <a:ext uri="{FF2B5EF4-FFF2-40B4-BE49-F238E27FC236}">
                <a16:creationId xmlns:a16="http://schemas.microsoft.com/office/drawing/2014/main" id="{D8A9BD56-0A66-47A6-2E3E-8168FA00CDED}"/>
              </a:ext>
            </a:extLst>
          </p:cNvPr>
          <p:cNvPicPr>
            <a:picLocks noChangeAspect="1"/>
          </p:cNvPicPr>
          <p:nvPr/>
        </p:nvPicPr>
        <p:blipFill>
          <a:blip r:embed="rId3"/>
          <a:srcRect r="41988"/>
          <a:stretch>
            <a:fillRect/>
          </a:stretch>
        </p:blipFill>
        <p:spPr>
          <a:xfrm>
            <a:off x="7134046" y="4049086"/>
            <a:ext cx="4067942" cy="2700073"/>
          </a:xfrm>
          <a:prstGeom prst="rect">
            <a:avLst/>
          </a:prstGeom>
        </p:spPr>
      </p:pic>
    </p:spTree>
    <p:extLst>
      <p:ext uri="{BB962C8B-B14F-4D97-AF65-F5344CB8AC3E}">
        <p14:creationId xmlns:p14="http://schemas.microsoft.com/office/powerpoint/2010/main" val="2349246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86A8-6020-DC60-093F-D8D17FF0C7AE}"/>
              </a:ext>
            </a:extLst>
          </p:cNvPr>
          <p:cNvSpPr>
            <a:spLocks noGrp="1"/>
          </p:cNvSpPr>
          <p:nvPr>
            <p:ph type="title"/>
          </p:nvPr>
        </p:nvSpPr>
        <p:spPr>
          <a:xfrm>
            <a:off x="1322568" y="0"/>
            <a:ext cx="9905998" cy="1478570"/>
          </a:xfrm>
        </p:spPr>
        <p:txBody>
          <a:bodyPr/>
          <a:lstStyle/>
          <a:p>
            <a:r>
              <a:rPr lang="en-IN" dirty="0"/>
              <a:t>Proposed System Architecture</a:t>
            </a:r>
          </a:p>
        </p:txBody>
      </p:sp>
      <p:pic>
        <p:nvPicPr>
          <p:cNvPr id="7" name="Content Placeholder 6">
            <a:extLst>
              <a:ext uri="{FF2B5EF4-FFF2-40B4-BE49-F238E27FC236}">
                <a16:creationId xmlns:a16="http://schemas.microsoft.com/office/drawing/2014/main" id="{623AD2F2-76CA-58D3-594C-0C306BEB92A2}"/>
              </a:ext>
            </a:extLst>
          </p:cNvPr>
          <p:cNvPicPr>
            <a:picLocks noGrp="1" noChangeAspect="1"/>
          </p:cNvPicPr>
          <p:nvPr>
            <p:ph idx="1"/>
          </p:nvPr>
        </p:nvPicPr>
        <p:blipFill>
          <a:blip r:embed="rId2"/>
          <a:stretch>
            <a:fillRect/>
          </a:stretch>
        </p:blipFill>
        <p:spPr>
          <a:xfrm>
            <a:off x="3381990" y="1110802"/>
            <a:ext cx="5428020" cy="5428020"/>
          </a:xfrm>
          <a:prstGeom prst="rect">
            <a:avLst/>
          </a:prstGeom>
        </p:spPr>
      </p:pic>
    </p:spTree>
    <p:extLst>
      <p:ext uri="{BB962C8B-B14F-4D97-AF65-F5344CB8AC3E}">
        <p14:creationId xmlns:p14="http://schemas.microsoft.com/office/powerpoint/2010/main" val="302366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17079-BB80-ECEF-D58A-5B86183437D0}"/>
              </a:ext>
            </a:extLst>
          </p:cNvPr>
          <p:cNvSpPr>
            <a:spLocks noGrp="1"/>
          </p:cNvSpPr>
          <p:nvPr>
            <p:ph type="title"/>
          </p:nvPr>
        </p:nvSpPr>
        <p:spPr>
          <a:xfrm>
            <a:off x="1141413" y="135439"/>
            <a:ext cx="9905998" cy="1478570"/>
          </a:xfrm>
        </p:spPr>
        <p:txBody>
          <a:bodyPr/>
          <a:lstStyle/>
          <a:p>
            <a:r>
              <a:rPr lang="en-IN" dirty="0"/>
              <a:t>Tiny Llama Integration </a:t>
            </a:r>
          </a:p>
        </p:txBody>
      </p:sp>
      <p:sp>
        <p:nvSpPr>
          <p:cNvPr id="3" name="Content Placeholder 2">
            <a:extLst>
              <a:ext uri="{FF2B5EF4-FFF2-40B4-BE49-F238E27FC236}">
                <a16:creationId xmlns:a16="http://schemas.microsoft.com/office/drawing/2014/main" id="{34221053-53A0-0F59-5D9D-AE0A5217A359}"/>
              </a:ext>
            </a:extLst>
          </p:cNvPr>
          <p:cNvSpPr>
            <a:spLocks noGrp="1"/>
          </p:cNvSpPr>
          <p:nvPr>
            <p:ph idx="1"/>
          </p:nvPr>
        </p:nvSpPr>
        <p:spPr>
          <a:xfrm>
            <a:off x="1141412" y="1492370"/>
            <a:ext cx="9905999" cy="4609382"/>
          </a:xfrm>
        </p:spPr>
        <p:txBody>
          <a:bodyPr>
            <a:normAutofit fontScale="92500" lnSpcReduction="20000"/>
          </a:bodyPr>
          <a:lstStyle/>
          <a:p>
            <a:pPr marL="0" indent="0">
              <a:buNone/>
            </a:pPr>
            <a:r>
              <a:rPr lang="en-US" dirty="0"/>
              <a:t>After prediction:</a:t>
            </a:r>
          </a:p>
          <a:p>
            <a:pPr marL="0" indent="0">
              <a:buNone/>
            </a:pPr>
            <a:r>
              <a:rPr lang="en-US" dirty="0"/>
              <a:t>Ex,</a:t>
            </a:r>
          </a:p>
          <a:p>
            <a:r>
              <a:rPr lang="en-US" dirty="0"/>
              <a:t>Structured rule:</a:t>
            </a:r>
          </a:p>
          <a:p>
            <a:pPr lvl="1"/>
            <a:r>
              <a:rPr lang="en-US" dirty="0"/>
              <a:t>IF </a:t>
            </a:r>
            <a:r>
              <a:rPr lang="en-US" dirty="0" err="1"/>
              <a:t>CreditHistory</a:t>
            </a:r>
            <a:r>
              <a:rPr lang="en-US" dirty="0"/>
              <a:t> = Critical account</a:t>
            </a:r>
          </a:p>
          <a:p>
            <a:pPr lvl="1"/>
            <a:r>
              <a:rPr lang="en-US" dirty="0"/>
              <a:t>AND </a:t>
            </a:r>
            <a:r>
              <a:rPr lang="en-US" dirty="0" err="1"/>
              <a:t>SavingsAccount</a:t>
            </a:r>
            <a:r>
              <a:rPr lang="en-US" dirty="0"/>
              <a:t> = &lt; 100 DM</a:t>
            </a:r>
          </a:p>
          <a:p>
            <a:pPr lvl="1"/>
            <a:r>
              <a:rPr lang="en-US" dirty="0"/>
              <a:t>AND </a:t>
            </a:r>
            <a:r>
              <a:rPr lang="en-US" dirty="0" err="1"/>
              <a:t>DurationCategory</a:t>
            </a:r>
            <a:r>
              <a:rPr lang="en-US" dirty="0"/>
              <a:t> = Long</a:t>
            </a:r>
          </a:p>
          <a:p>
            <a:pPr lvl="1"/>
            <a:r>
              <a:rPr lang="en-US" dirty="0"/>
              <a:t>THEN High Risk</a:t>
            </a:r>
          </a:p>
          <a:p>
            <a:r>
              <a:rPr lang="en-US" dirty="0"/>
              <a:t>Prompt given to Tiny Llama:</a:t>
            </a:r>
          </a:p>
          <a:p>
            <a:pPr lvl="1"/>
            <a:r>
              <a:rPr lang="en-US" dirty="0"/>
              <a:t>Explain why this applicant is high risk in simple terms.</a:t>
            </a:r>
          </a:p>
          <a:p>
            <a:pPr lvl="1"/>
            <a:r>
              <a:rPr lang="en-US" dirty="0"/>
              <a:t>Generated output:</a:t>
            </a:r>
          </a:p>
          <a:p>
            <a:pPr lvl="2"/>
            <a:r>
              <a:rPr lang="en-US" dirty="0"/>
              <a:t>The applicant is classified as high risk due to poor credit history and limited savings, combined with a long loan duration which increases repayment uncertainty.</a:t>
            </a:r>
          </a:p>
          <a:p>
            <a:endParaRPr lang="en-IN" dirty="0"/>
          </a:p>
        </p:txBody>
      </p:sp>
    </p:spTree>
    <p:extLst>
      <p:ext uri="{BB962C8B-B14F-4D97-AF65-F5344CB8AC3E}">
        <p14:creationId xmlns:p14="http://schemas.microsoft.com/office/powerpoint/2010/main" val="695394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D2BD-6C54-54C4-1D31-099C561B4E7E}"/>
              </a:ext>
            </a:extLst>
          </p:cNvPr>
          <p:cNvSpPr>
            <a:spLocks noGrp="1"/>
          </p:cNvSpPr>
          <p:nvPr>
            <p:ph type="title"/>
          </p:nvPr>
        </p:nvSpPr>
        <p:spPr>
          <a:xfrm>
            <a:off x="1141413" y="66427"/>
            <a:ext cx="9905998" cy="1478570"/>
          </a:xfrm>
        </p:spPr>
        <p:txBody>
          <a:bodyPr/>
          <a:lstStyle/>
          <a:p>
            <a:r>
              <a:rPr lang="en-IN" dirty="0"/>
              <a:t>Work Completed So Far</a:t>
            </a:r>
          </a:p>
        </p:txBody>
      </p:sp>
      <p:sp>
        <p:nvSpPr>
          <p:cNvPr id="3" name="Content Placeholder 2">
            <a:extLst>
              <a:ext uri="{FF2B5EF4-FFF2-40B4-BE49-F238E27FC236}">
                <a16:creationId xmlns:a16="http://schemas.microsoft.com/office/drawing/2014/main" id="{7461C365-5649-5A45-09F1-80C07C24A2E7}"/>
              </a:ext>
            </a:extLst>
          </p:cNvPr>
          <p:cNvSpPr>
            <a:spLocks noGrp="1"/>
          </p:cNvSpPr>
          <p:nvPr>
            <p:ph idx="1"/>
          </p:nvPr>
        </p:nvSpPr>
        <p:spPr>
          <a:xfrm>
            <a:off x="1141412" y="1544997"/>
            <a:ext cx="9905999" cy="4592129"/>
          </a:xfrm>
        </p:spPr>
        <p:txBody>
          <a:bodyPr>
            <a:normAutofit/>
          </a:bodyPr>
          <a:lstStyle/>
          <a:p>
            <a:r>
              <a:rPr lang="en-IN" dirty="0"/>
              <a:t>Dataset selection and understanding</a:t>
            </a:r>
          </a:p>
          <a:p>
            <a:r>
              <a:rPr lang="en-IN" dirty="0"/>
              <a:t>Column renaming and decoding</a:t>
            </a:r>
          </a:p>
          <a:p>
            <a:r>
              <a:rPr lang="en-IN" dirty="0"/>
              <a:t>Handling pandas NA issue</a:t>
            </a:r>
          </a:p>
          <a:p>
            <a:r>
              <a:rPr lang="en-IN" dirty="0"/>
              <a:t>Full categorical transformation</a:t>
            </a:r>
          </a:p>
          <a:p>
            <a:r>
              <a:rPr lang="en-IN" dirty="0"/>
              <a:t>Quantile-based discretization</a:t>
            </a:r>
          </a:p>
          <a:p>
            <a:r>
              <a:rPr lang="en-IN" dirty="0"/>
              <a:t>Creation of RST-ready dataset</a:t>
            </a:r>
          </a:p>
        </p:txBody>
      </p:sp>
    </p:spTree>
    <p:extLst>
      <p:ext uri="{BB962C8B-B14F-4D97-AF65-F5344CB8AC3E}">
        <p14:creationId xmlns:p14="http://schemas.microsoft.com/office/powerpoint/2010/main" val="305467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BB45-1F53-09CB-04BE-96CF76733818}"/>
              </a:ext>
            </a:extLst>
          </p:cNvPr>
          <p:cNvSpPr>
            <a:spLocks noGrp="1"/>
          </p:cNvSpPr>
          <p:nvPr>
            <p:ph type="title"/>
          </p:nvPr>
        </p:nvSpPr>
        <p:spPr/>
        <p:txBody>
          <a:bodyPr/>
          <a:lstStyle/>
          <a:p>
            <a:r>
              <a:rPr lang="en-IN" dirty="0"/>
              <a:t>Expected Contribution</a:t>
            </a:r>
          </a:p>
        </p:txBody>
      </p:sp>
      <p:sp>
        <p:nvSpPr>
          <p:cNvPr id="3" name="Content Placeholder 2">
            <a:extLst>
              <a:ext uri="{FF2B5EF4-FFF2-40B4-BE49-F238E27FC236}">
                <a16:creationId xmlns:a16="http://schemas.microsoft.com/office/drawing/2014/main" id="{7B4B53FD-BA57-1EDB-5BB7-CAE5B56A6463}"/>
              </a:ext>
            </a:extLst>
          </p:cNvPr>
          <p:cNvSpPr>
            <a:spLocks noGrp="1"/>
          </p:cNvSpPr>
          <p:nvPr>
            <p:ph idx="1"/>
          </p:nvPr>
        </p:nvSpPr>
        <p:spPr/>
        <p:txBody>
          <a:bodyPr/>
          <a:lstStyle/>
          <a:p>
            <a:r>
              <a:rPr lang="en-US" dirty="0"/>
              <a:t>Hybrid Explainable AI framework</a:t>
            </a:r>
          </a:p>
          <a:p>
            <a:r>
              <a:rPr lang="en-US" dirty="0"/>
              <a:t>Rule-based credit risk model</a:t>
            </a:r>
          </a:p>
          <a:p>
            <a:r>
              <a:rPr lang="en-US" dirty="0"/>
              <a:t>Feature reduction using Rough Sets</a:t>
            </a:r>
          </a:p>
          <a:p>
            <a:r>
              <a:rPr lang="en-US" dirty="0"/>
              <a:t>Natural language explanation via Tiny Llama</a:t>
            </a:r>
          </a:p>
          <a:p>
            <a:r>
              <a:rPr lang="en-US" dirty="0"/>
              <a:t>Regulatory-friendly AI system</a:t>
            </a:r>
          </a:p>
          <a:p>
            <a:endParaRPr lang="en-IN" dirty="0"/>
          </a:p>
        </p:txBody>
      </p:sp>
    </p:spTree>
    <p:extLst>
      <p:ext uri="{BB962C8B-B14F-4D97-AF65-F5344CB8AC3E}">
        <p14:creationId xmlns:p14="http://schemas.microsoft.com/office/powerpoint/2010/main" val="828809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DFC5-0F39-B75C-AB0B-383EB89997B1}"/>
              </a:ext>
            </a:extLst>
          </p:cNvPr>
          <p:cNvSpPr>
            <a:spLocks noGrp="1"/>
          </p:cNvSpPr>
          <p:nvPr>
            <p:ph type="title"/>
          </p:nvPr>
        </p:nvSpPr>
        <p:spPr/>
        <p:txBody>
          <a:bodyPr/>
          <a:lstStyle/>
          <a:p>
            <a:r>
              <a:rPr lang="en-IN" dirty="0"/>
              <a:t>Review 1 Conclusion</a:t>
            </a:r>
          </a:p>
        </p:txBody>
      </p:sp>
      <p:sp>
        <p:nvSpPr>
          <p:cNvPr id="3" name="Content Placeholder 2">
            <a:extLst>
              <a:ext uri="{FF2B5EF4-FFF2-40B4-BE49-F238E27FC236}">
                <a16:creationId xmlns:a16="http://schemas.microsoft.com/office/drawing/2014/main" id="{03E96F23-8B29-53C8-0D2A-F49002D8D07F}"/>
              </a:ext>
            </a:extLst>
          </p:cNvPr>
          <p:cNvSpPr>
            <a:spLocks noGrp="1"/>
          </p:cNvSpPr>
          <p:nvPr>
            <p:ph idx="1"/>
          </p:nvPr>
        </p:nvSpPr>
        <p:spPr/>
        <p:txBody>
          <a:bodyPr/>
          <a:lstStyle/>
          <a:p>
            <a:r>
              <a:rPr lang="en-US" dirty="0"/>
              <a:t>The project has successfully completed dataset preparation and preprocessing stages. The decision table has been constructed and discretized for Rough Set analysis. </a:t>
            </a:r>
          </a:p>
          <a:p>
            <a:r>
              <a:rPr lang="en-US" dirty="0"/>
              <a:t>The next phase will focus on rule extraction and feature reduction using Rough Set Theory, followed by integration with machine learning models and Tiny Llama for explanation generation.</a:t>
            </a:r>
            <a:endParaRPr lang="en-IN" dirty="0"/>
          </a:p>
        </p:txBody>
      </p:sp>
    </p:spTree>
    <p:extLst>
      <p:ext uri="{BB962C8B-B14F-4D97-AF65-F5344CB8AC3E}">
        <p14:creationId xmlns:p14="http://schemas.microsoft.com/office/powerpoint/2010/main" val="21367157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79702B-25C7-40D7-9E29-7686B11A96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62</TotalTime>
  <Words>796</Words>
  <Application>Microsoft Office PowerPoint</Application>
  <PresentationFormat>Widescreen</PresentationFormat>
  <Paragraphs>160</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 Math</vt:lpstr>
      <vt:lpstr>Rockwell</vt:lpstr>
      <vt:lpstr>Tahoma</vt:lpstr>
      <vt:lpstr>Tw Cen MT</vt:lpstr>
      <vt:lpstr>Circuit</vt:lpstr>
      <vt:lpstr>Explainable Credit Risk Assessment using Hybrid (Rough Set Theory) and LLm</vt:lpstr>
      <vt:lpstr>Introduction</vt:lpstr>
      <vt:lpstr>Problem Statement</vt:lpstr>
      <vt:lpstr>Objective</vt:lpstr>
      <vt:lpstr>Literature Overview</vt:lpstr>
      <vt:lpstr>Dataset Description</vt:lpstr>
      <vt:lpstr>Dataset Description</vt:lpstr>
      <vt:lpstr>Data Cleaning and Preprocessing</vt:lpstr>
      <vt:lpstr>Data Cleaning and Preprocessing</vt:lpstr>
      <vt:lpstr>Preprocessing -Categorical Decoding</vt:lpstr>
      <vt:lpstr>Preprocessing -Discretization (Quantile-Based)</vt:lpstr>
      <vt:lpstr>Rough Set Theory Framework</vt:lpstr>
      <vt:lpstr>Rough Set Theory Framework</vt:lpstr>
      <vt:lpstr>Proposed System Architecture</vt:lpstr>
      <vt:lpstr>Tiny Llama Integration </vt:lpstr>
      <vt:lpstr>Work Completed So Far</vt:lpstr>
      <vt:lpstr>Expected Contribution</vt:lpstr>
      <vt:lpstr>Review 1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Shyam Prasad S</dc:creator>
  <cp:lastModifiedBy>Shyam Prasad S</cp:lastModifiedBy>
  <cp:revision>16</cp:revision>
  <dcterms:created xsi:type="dcterms:W3CDTF">2026-02-18T23:34:02Z</dcterms:created>
  <dcterms:modified xsi:type="dcterms:W3CDTF">2026-02-22T11:47:42Z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